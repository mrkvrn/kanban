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3" r:id="rId9"/>
    <p:sldId id="266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>
        <p:scale>
          <a:sx n="50" d="100"/>
          <a:sy n="50" d="100"/>
        </p:scale>
        <p:origin x="1934" y="11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0A11D-5C05-46CB-8530-A69FD1C915FE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05BE3-1E47-429D-AC2A-49B87378B2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666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0A11D-5C05-46CB-8530-A69FD1C915FE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05BE3-1E47-429D-AC2A-49B87378B2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333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0A11D-5C05-46CB-8530-A69FD1C915FE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05BE3-1E47-429D-AC2A-49B87378B2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0782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0A11D-5C05-46CB-8530-A69FD1C915FE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05BE3-1E47-429D-AC2A-49B87378B2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7487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0A11D-5C05-46CB-8530-A69FD1C915FE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05BE3-1E47-429D-AC2A-49B87378B2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4189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0A11D-5C05-46CB-8530-A69FD1C915FE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05BE3-1E47-429D-AC2A-49B87378B2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421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0A11D-5C05-46CB-8530-A69FD1C915FE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05BE3-1E47-429D-AC2A-49B87378B2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10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0A11D-5C05-46CB-8530-A69FD1C915FE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05BE3-1E47-429D-AC2A-49B87378B2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794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0A11D-5C05-46CB-8530-A69FD1C915FE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05BE3-1E47-429D-AC2A-49B87378B2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042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0A11D-5C05-46CB-8530-A69FD1C915FE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05BE3-1E47-429D-AC2A-49B87378B2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1689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0A11D-5C05-46CB-8530-A69FD1C915FE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05BE3-1E47-429D-AC2A-49B87378B2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3177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D0A11D-5C05-46CB-8530-A69FD1C915FE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05BE3-1E47-429D-AC2A-49B87378B2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1306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XdZYn6IcZLhiRYhHtnSdlZsLFPYiBRJj/view?usp=sha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Разработка веб-приложения «</a:t>
            </a:r>
            <a:r>
              <a:rPr lang="en-US" b="1" dirty="0"/>
              <a:t>Kanban-</a:t>
            </a:r>
            <a:r>
              <a:rPr lang="ru-RU" b="1" dirty="0"/>
              <a:t>доска»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Каверина Мария</a:t>
            </a:r>
            <a:br>
              <a:rPr lang="ru-RU" dirty="0" smtClean="0"/>
            </a:br>
            <a:r>
              <a:rPr lang="ru-RU" dirty="0" smtClean="0"/>
              <a:t>БИВТ-24-3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1710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MVP </a:t>
            </a:r>
            <a:r>
              <a:rPr lang="ru-RU" dirty="0" smtClean="0"/>
              <a:t>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smtClean="0"/>
              <a:t>Что реализовано:</a:t>
            </a:r>
          </a:p>
          <a:p>
            <a:pPr marL="0" indent="0">
              <a:buNone/>
            </a:pPr>
            <a:r>
              <a:rPr lang="ru-RU" dirty="0"/>
              <a:t>✅ Регистрация и аутентификация пользователей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>✅ CRUD-операции (доски, колонки, карточки)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>✅ </a:t>
            </a:r>
            <a:r>
              <a:rPr lang="ru-RU" dirty="0" err="1"/>
              <a:t>Drag-and-drop</a:t>
            </a:r>
            <a:r>
              <a:rPr lang="ru-RU" dirty="0"/>
              <a:t> перемещение карточек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>✅ Система комментариев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>✅ Разграничение прав доступа (3 роли)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>✅ Журнал аудита всех изменений</a:t>
            </a:r>
          </a:p>
        </p:txBody>
      </p:sp>
    </p:spTree>
    <p:extLst>
      <p:ext uri="{BB962C8B-B14F-4D97-AF65-F5344CB8AC3E}">
        <p14:creationId xmlns:p14="http://schemas.microsoft.com/office/powerpoint/2010/main" val="1895412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1737" y="256257"/>
            <a:ext cx="10515600" cy="1325563"/>
          </a:xfrm>
        </p:spPr>
        <p:txBody>
          <a:bodyPr/>
          <a:lstStyle/>
          <a:p>
            <a:r>
              <a:rPr lang="ru-RU" dirty="0" smtClean="0"/>
              <a:t>Технологический стек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61737" y="1581820"/>
            <a:ext cx="2273968" cy="239344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Backend:</a:t>
            </a:r>
            <a:endParaRPr lang="en-US" dirty="0"/>
          </a:p>
          <a:p>
            <a:r>
              <a:rPr lang="en-US" dirty="0"/>
              <a:t>Python</a:t>
            </a:r>
          </a:p>
          <a:p>
            <a:r>
              <a:rPr lang="en-US" dirty="0" err="1"/>
              <a:t>FastAPI</a:t>
            </a:r>
            <a:endParaRPr lang="en-US" dirty="0"/>
          </a:p>
          <a:p>
            <a:r>
              <a:rPr lang="en-US" dirty="0" err="1"/>
              <a:t>SQLAlchemy</a:t>
            </a:r>
            <a:endParaRPr lang="en-US" dirty="0"/>
          </a:p>
          <a:p>
            <a:endParaRPr lang="ru-RU" dirty="0"/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4886827" y="1581820"/>
            <a:ext cx="2065420" cy="23934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Database:</a:t>
            </a:r>
            <a:endParaRPr lang="en-US" dirty="0"/>
          </a:p>
          <a:p>
            <a:r>
              <a:rPr lang="en-US" dirty="0"/>
              <a:t>PostgreSQL</a:t>
            </a:r>
          </a:p>
          <a:p>
            <a:r>
              <a:rPr lang="en-US" dirty="0"/>
              <a:t>JWT + </a:t>
            </a:r>
            <a:r>
              <a:rPr lang="en-US" dirty="0" err="1"/>
              <a:t>bcrypt</a:t>
            </a:r>
            <a:endParaRPr lang="en-US" dirty="0"/>
          </a:p>
          <a:p>
            <a:endParaRPr lang="ru-RU" dirty="0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8903369" y="1568952"/>
            <a:ext cx="2273968" cy="23934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Frontend:</a:t>
            </a:r>
            <a:endParaRPr lang="en-US" dirty="0"/>
          </a:p>
          <a:p>
            <a:r>
              <a:rPr lang="en-US" dirty="0"/>
              <a:t>HTML5 + JavaScript</a:t>
            </a:r>
          </a:p>
          <a:p>
            <a:r>
              <a:rPr lang="en-US" dirty="0"/>
              <a:t>Tailwind CSS</a:t>
            </a:r>
          </a:p>
          <a:p>
            <a:r>
              <a:rPr lang="en-US" dirty="0" err="1"/>
              <a:t>SortableJS</a:t>
            </a:r>
            <a:endParaRPr lang="en-US" dirty="0"/>
          </a:p>
          <a:p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37" y="3855719"/>
            <a:ext cx="2450817" cy="245081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827" y="3975268"/>
            <a:ext cx="2402992" cy="2477459"/>
          </a:xfrm>
          <a:prstGeom prst="rect">
            <a:avLst/>
          </a:prstGeom>
        </p:spPr>
      </p:pic>
      <p:pic>
        <p:nvPicPr>
          <p:cNvPr id="2050" name="Picture 2" descr="File:Javascript 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3369" y="4197209"/>
            <a:ext cx="2109327" cy="2109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1315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Архитектура проекта</a:t>
            </a: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7"/>
            <a:ext cx="3958389" cy="4549691"/>
          </a:xfrm>
          <a:prstGeom prst="rect">
            <a:avLst/>
          </a:prstGeom>
        </p:spPr>
      </p:pic>
      <p:sp>
        <p:nvSpPr>
          <p:cNvPr id="5" name="Объект 2"/>
          <p:cNvSpPr txBox="1">
            <a:spLocks/>
          </p:cNvSpPr>
          <p:nvPr/>
        </p:nvSpPr>
        <p:spPr>
          <a:xfrm>
            <a:off x="5307931" y="1690687"/>
            <a:ext cx="5534526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✅ Трехуровневая </a:t>
            </a:r>
            <a:r>
              <a:rPr lang="ru-RU" dirty="0"/>
              <a:t>архитектура (</a:t>
            </a:r>
            <a:r>
              <a:rPr lang="en-US" dirty="0"/>
              <a:t>Client-Server)</a:t>
            </a:r>
          </a:p>
          <a:p>
            <a:pPr marL="0" indent="0">
              <a:buNone/>
            </a:pPr>
            <a:r>
              <a:rPr lang="ru-RU" dirty="0"/>
              <a:t>✅ </a:t>
            </a:r>
            <a:r>
              <a:rPr lang="en-US" dirty="0"/>
              <a:t>RESTful API </a:t>
            </a:r>
            <a:r>
              <a:rPr lang="ru-RU" dirty="0"/>
              <a:t>с автоматической документацией (</a:t>
            </a:r>
            <a:r>
              <a:rPr lang="en-US" dirty="0"/>
              <a:t>Swagger)</a:t>
            </a:r>
          </a:p>
          <a:p>
            <a:pPr marL="0" indent="0">
              <a:buNone/>
            </a:pPr>
            <a:r>
              <a:rPr lang="ru-RU" dirty="0"/>
              <a:t>✅ </a:t>
            </a:r>
            <a:r>
              <a:rPr lang="en-US" dirty="0"/>
              <a:t>JWT-</a:t>
            </a:r>
            <a:r>
              <a:rPr lang="ru-RU" dirty="0"/>
              <a:t>аутентификация и ролевая модель (</a:t>
            </a:r>
            <a:r>
              <a:rPr lang="en-US" dirty="0"/>
              <a:t>RBAC)</a:t>
            </a:r>
          </a:p>
          <a:p>
            <a:pPr marL="0" indent="0">
              <a:buNone/>
            </a:pPr>
            <a:r>
              <a:rPr lang="ru-RU" dirty="0"/>
              <a:t>✅ Асинхронная обработка запросов (</a:t>
            </a:r>
            <a:r>
              <a:rPr lang="en-US" dirty="0" err="1"/>
              <a:t>FastAPI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ru-RU" dirty="0"/>
              <a:t>✅ </a:t>
            </a:r>
            <a:r>
              <a:rPr lang="ru-RU" dirty="0" err="1"/>
              <a:t>Транзакционность</a:t>
            </a:r>
            <a:r>
              <a:rPr lang="ru-RU" dirty="0"/>
              <a:t> и целостность данных (</a:t>
            </a:r>
            <a:r>
              <a:rPr lang="en-US" dirty="0"/>
              <a:t>PostgreSQL)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2024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База данных</a:t>
            </a:r>
            <a:endParaRPr lang="ru-RU" dirty="0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6286498" y="1690686"/>
            <a:ext cx="553452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/>
              <a:t>Основные сущности (1:</a:t>
            </a:r>
            <a:r>
              <a:rPr lang="en-US" b="1" dirty="0"/>
              <a:t>N </a:t>
            </a:r>
            <a:r>
              <a:rPr lang="ru-RU" b="1" dirty="0"/>
              <a:t>связи):</a:t>
            </a:r>
            <a:endParaRPr lang="ru-RU" dirty="0"/>
          </a:p>
          <a:p>
            <a:r>
              <a:rPr lang="en-US" dirty="0"/>
              <a:t>users → boards → columns → cards</a:t>
            </a:r>
          </a:p>
          <a:p>
            <a:r>
              <a:rPr lang="en-US" dirty="0"/>
              <a:t>cards → comments</a:t>
            </a:r>
          </a:p>
          <a:p>
            <a:r>
              <a:rPr lang="en-US" dirty="0"/>
              <a:t>users → </a:t>
            </a:r>
            <a:r>
              <a:rPr lang="en-US" dirty="0" err="1"/>
              <a:t>audit_log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" name="Рисунок 5" descr="C:\Users\mkave\OneDrive\Изображения\Снимки экрана\Снимок экрана 2026-07-16 202934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6"/>
            <a:ext cx="5177589" cy="4236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749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API Endpoints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477012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REST API </a:t>
            </a:r>
            <a:r>
              <a:rPr lang="ru-RU" b="1" dirty="0"/>
              <a:t>на </a:t>
            </a:r>
            <a:r>
              <a:rPr lang="en-US" b="1" dirty="0" err="1"/>
              <a:t>FastAPI</a:t>
            </a:r>
            <a:r>
              <a:rPr lang="en-US" b="1" dirty="0"/>
              <a:t>:</a:t>
            </a:r>
            <a:endParaRPr lang="en-US" dirty="0"/>
          </a:p>
          <a:p>
            <a:r>
              <a:rPr lang="ru-RU" dirty="0"/>
              <a:t>Автоматическая документация </a:t>
            </a:r>
            <a:r>
              <a:rPr lang="en-US" dirty="0" err="1"/>
              <a:t>OpenAPI</a:t>
            </a:r>
            <a:r>
              <a:rPr lang="en-US" dirty="0"/>
              <a:t> (Swagger)</a:t>
            </a:r>
          </a:p>
          <a:p>
            <a:r>
              <a:rPr lang="ru-RU" dirty="0" err="1"/>
              <a:t>Валидация</a:t>
            </a:r>
            <a:r>
              <a:rPr lang="ru-RU" dirty="0"/>
              <a:t> данных через </a:t>
            </a:r>
            <a:r>
              <a:rPr lang="en-US" dirty="0" err="1"/>
              <a:t>Pydantic</a:t>
            </a:r>
            <a:r>
              <a:rPr lang="en-US" dirty="0"/>
              <a:t> </a:t>
            </a:r>
            <a:r>
              <a:rPr lang="ru-RU" dirty="0"/>
              <a:t>схемы</a:t>
            </a:r>
          </a:p>
          <a:p>
            <a:r>
              <a:rPr lang="ru-RU" dirty="0"/>
              <a:t>Аутентификация через </a:t>
            </a:r>
            <a:r>
              <a:rPr lang="en-US" dirty="0"/>
              <a:t>JWT </a:t>
            </a:r>
            <a:r>
              <a:rPr lang="ru-RU" dirty="0" err="1"/>
              <a:t>токены</a:t>
            </a:r>
            <a:endParaRPr lang="ru-RU" dirty="0"/>
          </a:p>
          <a:p>
            <a:r>
              <a:rPr lang="ru-RU" dirty="0"/>
              <a:t>Разграничение доступа по ролям (</a:t>
            </a:r>
            <a:r>
              <a:rPr lang="en-US" dirty="0"/>
              <a:t>Reader/Writer/Owner)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6416040" y="1822450"/>
            <a:ext cx="52730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 smtClean="0"/>
              <a:t>Основные группы </a:t>
            </a:r>
            <a:r>
              <a:rPr lang="en-US" b="1" dirty="0" smtClean="0"/>
              <a:t>endpoints:</a:t>
            </a:r>
          </a:p>
          <a:p>
            <a:pPr marL="0" indent="0">
              <a:buNone/>
            </a:pPr>
            <a:r>
              <a:rPr lang="ru-RU" dirty="0" smtClean="0"/>
              <a:t>🔐 </a:t>
            </a:r>
            <a:r>
              <a:rPr lang="en-US" dirty="0" err="1" smtClean="0"/>
              <a:t>Auth</a:t>
            </a:r>
            <a:r>
              <a:rPr lang="en-US" dirty="0" smtClean="0"/>
              <a:t> — /register, /login</a:t>
            </a:r>
          </a:p>
          <a:p>
            <a:pPr marL="0" indent="0">
              <a:buNone/>
            </a:pPr>
            <a:r>
              <a:rPr lang="ru-RU" dirty="0" smtClean="0"/>
              <a:t>👥 </a:t>
            </a:r>
            <a:r>
              <a:rPr lang="en-US" dirty="0" smtClean="0"/>
              <a:t>Users — /users, /users/{id}/role</a:t>
            </a:r>
          </a:p>
          <a:p>
            <a:pPr marL="0" indent="0">
              <a:buNone/>
            </a:pPr>
            <a:r>
              <a:rPr lang="ru-RU" dirty="0" smtClean="0"/>
              <a:t>📋 </a:t>
            </a:r>
            <a:r>
              <a:rPr lang="en-US" dirty="0" smtClean="0"/>
              <a:t>Boards — /boards, /boards/{id}</a:t>
            </a:r>
          </a:p>
          <a:p>
            <a:pPr marL="0" indent="0">
              <a:buNone/>
            </a:pPr>
            <a:r>
              <a:rPr lang="ru-RU" dirty="0" smtClean="0"/>
              <a:t>📌 </a:t>
            </a:r>
            <a:r>
              <a:rPr lang="en-US" dirty="0" smtClean="0"/>
              <a:t>Cards — /cards, /cards/{id}/move</a:t>
            </a:r>
          </a:p>
          <a:p>
            <a:pPr marL="0" indent="0">
              <a:buNone/>
            </a:pPr>
            <a:r>
              <a:rPr lang="ru-RU" dirty="0" smtClean="0"/>
              <a:t>💬 </a:t>
            </a:r>
            <a:r>
              <a:rPr lang="en-US" dirty="0" smtClean="0"/>
              <a:t>Comments — /cards/{id}/comments</a:t>
            </a:r>
          </a:p>
          <a:p>
            <a:pPr marL="0" indent="0">
              <a:buNone/>
            </a:pPr>
            <a:r>
              <a:rPr lang="ru-RU" dirty="0" smtClean="0"/>
              <a:t>📊 </a:t>
            </a:r>
            <a:r>
              <a:rPr lang="en-US" dirty="0" smtClean="0"/>
              <a:t>Audit — /audit-log, /stats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1343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Безопасность и </a:t>
            </a:r>
            <a:r>
              <a:rPr lang="en-US" dirty="0"/>
              <a:t>JWT</a:t>
            </a: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7"/>
            <a:ext cx="3958389" cy="4549691"/>
          </a:xfrm>
          <a:prstGeom prst="rect">
            <a:avLst/>
          </a:prstGeom>
        </p:spPr>
      </p:pic>
      <p:sp>
        <p:nvSpPr>
          <p:cNvPr id="5" name="Объект 2"/>
          <p:cNvSpPr txBox="1">
            <a:spLocks/>
          </p:cNvSpPr>
          <p:nvPr/>
        </p:nvSpPr>
        <p:spPr>
          <a:xfrm>
            <a:off x="5307931" y="1690687"/>
            <a:ext cx="553452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/>
              <a:t>Аутентификация:</a:t>
            </a:r>
            <a:endParaRPr lang="ru-RU" dirty="0"/>
          </a:p>
          <a:p>
            <a:r>
              <a:rPr lang="ru-RU" dirty="0"/>
              <a:t>Пароли </a:t>
            </a:r>
            <a:r>
              <a:rPr lang="ru-RU" dirty="0" err="1"/>
              <a:t>хэшируются</a:t>
            </a:r>
            <a:r>
              <a:rPr lang="ru-RU" dirty="0"/>
              <a:t> </a:t>
            </a:r>
            <a:r>
              <a:rPr lang="ru-RU" dirty="0" err="1"/>
              <a:t>bcrypt</a:t>
            </a:r>
            <a:endParaRPr lang="ru-RU" dirty="0"/>
          </a:p>
          <a:p>
            <a:r>
              <a:rPr lang="ru-RU" dirty="0"/>
              <a:t>JWT </a:t>
            </a:r>
            <a:r>
              <a:rPr lang="ru-RU" dirty="0" err="1"/>
              <a:t>токен</a:t>
            </a:r>
            <a:r>
              <a:rPr lang="ru-RU" dirty="0"/>
              <a:t> (60 минут)</a:t>
            </a:r>
          </a:p>
          <a:p>
            <a:pPr marL="0" indent="0">
              <a:buNone/>
            </a:pPr>
            <a:r>
              <a:rPr lang="ru-RU" b="1" dirty="0" smtClean="0"/>
              <a:t>Роли: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052129"/>
              </p:ext>
            </p:extLst>
          </p:nvPr>
        </p:nvGraphicFramePr>
        <p:xfrm>
          <a:off x="5307931" y="3769895"/>
          <a:ext cx="6290512" cy="2470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628"/>
                <a:gridCol w="1572628"/>
                <a:gridCol w="1572628"/>
                <a:gridCol w="1572628"/>
              </a:tblGrid>
              <a:tr h="672508">
                <a:tc>
                  <a:txBody>
                    <a:bodyPr/>
                    <a:lstStyle/>
                    <a:p>
                      <a:r>
                        <a:rPr lang="ru-RU" dirty="0" smtClean="0"/>
                        <a:t>Роль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Чтение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Запись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Админ</a:t>
                      </a:r>
                      <a:endParaRPr lang="ru-RU" dirty="0"/>
                    </a:p>
                  </a:txBody>
                  <a:tcPr/>
                </a:tc>
              </a:tr>
              <a:tr h="599325">
                <a:tc>
                  <a:txBody>
                    <a:bodyPr/>
                    <a:lstStyle/>
                    <a:p>
                      <a:r>
                        <a:rPr lang="en-US" dirty="0" smtClean="0"/>
                        <a:t>Reader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ru-RU" dirty="0"/>
                    </a:p>
                  </a:txBody>
                  <a:tcPr/>
                </a:tc>
              </a:tr>
              <a:tr h="599325">
                <a:tc>
                  <a:txBody>
                    <a:bodyPr/>
                    <a:lstStyle/>
                    <a:p>
                      <a:r>
                        <a:rPr lang="en-US" dirty="0" smtClean="0"/>
                        <a:t>Writer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ru-RU" dirty="0"/>
                    </a:p>
                  </a:txBody>
                  <a:tcPr/>
                </a:tc>
              </a:tr>
              <a:tr h="599325">
                <a:tc>
                  <a:txBody>
                    <a:bodyPr/>
                    <a:lstStyle/>
                    <a:p>
                      <a:r>
                        <a:rPr lang="en-US" dirty="0" smtClean="0"/>
                        <a:t>Owner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9031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Журнал аудита действий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90688"/>
            <a:ext cx="3870960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Что фиксируется:</a:t>
            </a:r>
            <a:endParaRPr lang="ru-RU" dirty="0"/>
          </a:p>
          <a:p>
            <a:r>
              <a:rPr lang="ru-RU" dirty="0"/>
              <a:t>Все CREATE, UPDATE, DELETE операции</a:t>
            </a:r>
          </a:p>
          <a:p>
            <a:r>
              <a:rPr lang="ru-RU" dirty="0"/>
              <a:t>Кто изменил (</a:t>
            </a:r>
            <a:r>
              <a:rPr lang="ru-RU" dirty="0" err="1"/>
              <a:t>user_id</a:t>
            </a:r>
            <a:r>
              <a:rPr lang="ru-RU" dirty="0"/>
              <a:t>)</a:t>
            </a:r>
          </a:p>
          <a:p>
            <a:r>
              <a:rPr lang="ru-RU" dirty="0"/>
              <a:t>Что изменил (</a:t>
            </a:r>
            <a:r>
              <a:rPr lang="ru-RU" dirty="0" err="1"/>
              <a:t>entity_type</a:t>
            </a:r>
            <a:r>
              <a:rPr lang="ru-RU" dirty="0"/>
              <a:t> + </a:t>
            </a:r>
            <a:r>
              <a:rPr lang="ru-RU" dirty="0" err="1"/>
              <a:t>entity_id</a:t>
            </a:r>
            <a:r>
              <a:rPr lang="ru-RU" dirty="0"/>
              <a:t>)</a:t>
            </a:r>
          </a:p>
          <a:p>
            <a:r>
              <a:rPr lang="ru-RU" dirty="0"/>
              <a:t>Старые и новые значения (JSON)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690688"/>
            <a:ext cx="7152795" cy="419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022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Демонстрация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Ссылка на видео: </a:t>
            </a:r>
            <a:r>
              <a:rPr lang="en-US" dirty="0" smtClean="0">
                <a:hlinkClick r:id="rId2"/>
              </a:rPr>
              <a:t>https://drive.google.com/file/d/1XdZYn6IcZLhiRYhHtnSdlZsLFPYiBRJj/view?usp=sharing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63515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267</Words>
  <Application>Microsoft Office PowerPoint</Application>
  <PresentationFormat>Широкоэкранный</PresentationFormat>
  <Paragraphs>70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Разработка веб-приложения «Kanban-доска»</vt:lpstr>
      <vt:lpstr>MVP проекта</vt:lpstr>
      <vt:lpstr>Технологический стек</vt:lpstr>
      <vt:lpstr>Архитектура проекта</vt:lpstr>
      <vt:lpstr>База данных</vt:lpstr>
      <vt:lpstr>API Endpoints</vt:lpstr>
      <vt:lpstr>Безопасность и JWT</vt:lpstr>
      <vt:lpstr>Журнал аудита действий</vt:lpstr>
      <vt:lpstr>Демонстрация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👻👻Мария Каверина👻</dc:creator>
  <cp:lastModifiedBy>👻👻Мария Каверина👻</cp:lastModifiedBy>
  <cp:revision>5</cp:revision>
  <dcterms:created xsi:type="dcterms:W3CDTF">2026-07-17T00:33:44Z</dcterms:created>
  <dcterms:modified xsi:type="dcterms:W3CDTF">2026-07-17T01:57:59Z</dcterms:modified>
</cp:coreProperties>
</file>